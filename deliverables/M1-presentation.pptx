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b6b786fdec4487a" /><Relationship Type="http://schemas.openxmlformats.org/officeDocument/2006/relationships/extended-properties" Target="/docProps/app.xml" Id="R7959557d27c74226" /><Relationship Type="http://schemas.openxmlformats.org/officeDocument/2006/relationships/officeDocument" Target="/ppt/presentation.xml" Id="Rddff356c32c24ed6" /></Relationships>
</file>

<file path=ppt/presentation.xml><?xml version="1.0" encoding="utf-8"?>
<p:presentation xmlns:p="http://schemas.openxmlformats.org/presentationml/2006/main">
  <p:sldMasterIdLst>
    <p:sldMasterId xmlns:r="http://schemas.openxmlformats.org/officeDocument/2006/relationships" id="2147483648" r:id="R2c8200a3f19b4ae6"/>
  </p:sldMasterIdLst>
  <p:notesMasterIdLst>
    <p:notesMasterId xmlns:r="http://schemas.openxmlformats.org/officeDocument/2006/relationships" r:id="R869332b7edbb4475"/>
  </p:notesMasterIdLst>
  <p:sldIdLst>
    <p:sldId xmlns:r="http://schemas.openxmlformats.org/officeDocument/2006/relationships" id="256" r:id="R8f6892deb9ec4d68"/>
    <p:sldId xmlns:r="http://schemas.openxmlformats.org/officeDocument/2006/relationships" id="257" r:id="R2c722eb52c8a4395"/>
    <p:sldId xmlns:r="http://schemas.openxmlformats.org/officeDocument/2006/relationships" id="258" r:id="R5731ba1f5fb64301"/>
    <p:sldId xmlns:r="http://schemas.openxmlformats.org/officeDocument/2006/relationships" id="259" r:id="R2516f7819f6d46b5"/>
    <p:sldId xmlns:r="http://schemas.openxmlformats.org/officeDocument/2006/relationships" id="260" r:id="Raeffffa1fb9b41e9"/>
    <p:sldId xmlns:r="http://schemas.openxmlformats.org/officeDocument/2006/relationships" id="261" r:id="R90d403e55ef44b45"/>
    <p:sldId xmlns:r="http://schemas.openxmlformats.org/officeDocument/2006/relationships" id="262" r:id="Rc810bbc52ffd4b8b"/>
    <p:sldId xmlns:r="http://schemas.openxmlformats.org/officeDocument/2006/relationships" id="263" r:id="Rcb92c4d1b7e649d4"/>
    <p:sldId xmlns:r="http://schemas.openxmlformats.org/officeDocument/2006/relationships" id="264" r:id="Rffd755ba59e54f24"/>
    <p:sldId xmlns:r="http://schemas.openxmlformats.org/officeDocument/2006/relationships" id="265" r:id="Ra7cfcb326622415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950bbf63e0c48c5" /><Relationship Type="http://schemas.openxmlformats.org/officeDocument/2006/relationships/slideMaster" Target="/ppt/slideMasters/slideMaster1.xml" Id="R2c8200a3f19b4ae6" /><Relationship Type="http://schemas.openxmlformats.org/officeDocument/2006/relationships/notesMaster" Target="/ppt/notesMasters/notesMaster1.xml" Id="R869332b7edbb4475" /><Relationship Type="http://schemas.openxmlformats.org/officeDocument/2006/relationships/presProps" Target="/ppt/presProps.xml" Id="R6804f99b39ac48b9" /><Relationship Type="http://schemas.openxmlformats.org/officeDocument/2006/relationships/tableStyles" Target="/ppt/tableStyles.xml" Id="R14a4010616774e94" /><Relationship Type="http://schemas.openxmlformats.org/officeDocument/2006/relationships/slide" Target="/ppt/slides/slide1.xml" Id="R8f6892deb9ec4d68" /><Relationship Type="http://schemas.openxmlformats.org/officeDocument/2006/relationships/slide" Target="/ppt/slides/slide2.xml" Id="R2c722eb52c8a4395" /><Relationship Type="http://schemas.openxmlformats.org/officeDocument/2006/relationships/slide" Target="/ppt/slides/slide3.xml" Id="R5731ba1f5fb64301" /><Relationship Type="http://schemas.openxmlformats.org/officeDocument/2006/relationships/slide" Target="/ppt/slides/slide4.xml" Id="R2516f7819f6d46b5" /><Relationship Type="http://schemas.openxmlformats.org/officeDocument/2006/relationships/slide" Target="/ppt/slides/slide5.xml" Id="Raeffffa1fb9b41e9" /><Relationship Type="http://schemas.openxmlformats.org/officeDocument/2006/relationships/slide" Target="/ppt/slides/slide6.xml" Id="R90d403e55ef44b45" /><Relationship Type="http://schemas.openxmlformats.org/officeDocument/2006/relationships/slide" Target="/ppt/slides/slide7.xml" Id="Rc810bbc52ffd4b8b" /><Relationship Type="http://schemas.openxmlformats.org/officeDocument/2006/relationships/slide" Target="/ppt/slides/slide8.xml" Id="Rcb92c4d1b7e649d4" /><Relationship Type="http://schemas.openxmlformats.org/officeDocument/2006/relationships/slide" Target="/ppt/slides/slide9.xml" Id="Rffd755ba59e54f24" /><Relationship Type="http://schemas.openxmlformats.org/officeDocument/2006/relationships/slide" Target="/ppt/slides/slide10.xml" Id="Ra7cfcb326622415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b7e597502b342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2c77aaca3a34c6f" /><Relationship Type="http://schemas.openxmlformats.org/officeDocument/2006/relationships/notesMaster" Target="/ppt/notesMasters/notesMaster1.xml" Id="R616b379410824ae0"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e9647e81b0401c" /><Relationship Type="http://schemas.openxmlformats.org/officeDocument/2006/relationships/notesMaster" Target="/ppt/notesMasters/notesMaster1.xml" Id="Reb2e108b66ab47e1" /></Relationships>
</file>

<file path=ppt/notesSlides/_rels/notesSlide3.xml.rels>&#65279;<?xml version="1.0" encoding="utf-8"?><Relationships xmlns="http://schemas.openxmlformats.org/package/2006/relationships"><Relationship Type="http://schemas.openxmlformats.org/officeDocument/2006/relationships/slide" Target="/ppt/slides/slide3.xml" Id="Rf4f71c1531324af3" /><Relationship Type="http://schemas.openxmlformats.org/officeDocument/2006/relationships/notesMaster" Target="/ppt/notesMasters/notesMaster1.xml" Id="Rada1123635734f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18e23cb850424e" /><Relationship Type="http://schemas.openxmlformats.org/officeDocument/2006/relationships/notesMaster" Target="/ppt/notesMasters/notesMaster1.xml" Id="Rb9c993b7eaad40c4" /></Relationships>
</file>

<file path=ppt/notesSlides/_rels/notesSlide5.xml.rels>&#65279;<?xml version="1.0" encoding="utf-8"?><Relationships xmlns="http://schemas.openxmlformats.org/package/2006/relationships"><Relationship Type="http://schemas.openxmlformats.org/officeDocument/2006/relationships/slide" Target="/ppt/slides/slide5.xml" Id="R33fa2216572943b4" /><Relationship Type="http://schemas.openxmlformats.org/officeDocument/2006/relationships/notesMaster" Target="/ppt/notesMasters/notesMaster1.xml" Id="Rbf90f0ed9ddb4404" /></Relationships>
</file>

<file path=ppt/notesSlides/_rels/notesSlide6.xml.rels>&#65279;<?xml version="1.0" encoding="utf-8"?><Relationships xmlns="http://schemas.openxmlformats.org/package/2006/relationships"><Relationship Type="http://schemas.openxmlformats.org/officeDocument/2006/relationships/slide" Target="/ppt/slides/slide6.xml" Id="R7ba22b784f1845de" /><Relationship Type="http://schemas.openxmlformats.org/officeDocument/2006/relationships/notesMaster" Target="/ppt/notesMasters/notesMaster1.xml" Id="R301dff9dad364d2c" /></Relationships>
</file>

<file path=ppt/notesSlides/_rels/notesSlide7.xml.rels>&#65279;<?xml version="1.0" encoding="utf-8"?><Relationships xmlns="http://schemas.openxmlformats.org/package/2006/relationships"><Relationship Type="http://schemas.openxmlformats.org/officeDocument/2006/relationships/slide" Target="/ppt/slides/slide7.xml" Id="Rd74e2f20387a4243" /><Relationship Type="http://schemas.openxmlformats.org/officeDocument/2006/relationships/notesMaster" Target="/ppt/notesMasters/notesMaster1.xml" Id="Rcbdcbcbf2c574a56" /></Relationships>
</file>

<file path=ppt/notesSlides/_rels/notesSlide8.xml.rels>&#65279;<?xml version="1.0" encoding="utf-8"?><Relationships xmlns="http://schemas.openxmlformats.org/package/2006/relationships"><Relationship Type="http://schemas.openxmlformats.org/officeDocument/2006/relationships/slide" Target="/ppt/slides/slide8.xml" Id="Rf23a15c2dab84f6e" /><Relationship Type="http://schemas.openxmlformats.org/officeDocument/2006/relationships/notesMaster" Target="/ppt/notesMasters/notesMaster1.xml" Id="R5ec4a1196bc24da0" /></Relationships>
</file>

<file path=ppt/notesSlides/_rels/notesSlide9.xml.rels>&#65279;<?xml version="1.0" encoding="utf-8"?><Relationships xmlns="http://schemas.openxmlformats.org/package/2006/relationships"><Relationship Type="http://schemas.openxmlformats.org/officeDocument/2006/relationships/slide" Target="/ppt/slides/slide9.xml" Id="Rcbf7ea1ea3454406" /><Relationship Type="http://schemas.openxmlformats.org/officeDocument/2006/relationships/notesMaster" Target="/ppt/notesMasters/notesMaster1.xml" Id="Rdf5081f8d38e49f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46932e017b946b0" /><Relationship Type="http://schemas.openxmlformats.org/officeDocument/2006/relationships/notesMaster" Target="/ppt/notesMasters/notesMaster1.xml" Id="R064beea8b30b4d5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project studies a practical part of personalized artificial intelligence: choosing which memories belong in the context for the next answer. A system may store a long conversation history and still retrieve the wrong evidence. The goal here is to compare several retrieval methods under the same constraints, then expose the results through a reusable interface. The course methods include logistic regression, tree ensembles, grouped cross validation, and exploratory data analysis in R. The data are synthetic conversations from PersonaMem version two. The claims in this presentation concern retrieval of annotated evidence. They do not establish psychological validity or benefit for real users.</a:t>
            </a:r>
          </a:p>
          <a:p xmlns:a="http://schemas.openxmlformats.org/drawingml/2006/main">
            <a:r>
              <a:t/>
            </a:r>
          </a:p>
          <a:p xmlns:a="http://schemas.openxmlformats.org/drawingml/2006/main">
            <a:r>
              <a:t>Source: https://huggingface.co/datasets/bowen-upenn/PersonaMem-v2</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research question is whether classical machine learning improves the selection of annotated evidence compared with lexical search, vector search, and a hybrid of both. A fair comparison requires holding the candidate pool and context budget constant. Otherwise a method could look stronger simply because it sees more material or returns a longer prompt. Each result keeps a memory identifier and a source reference. This allows us to inspect why the method selected a passage and whether that passage supports the query. The application is a memory engine for a persona agent, but the experiment evaluates retrieval directly. Response generation and personality inference are separate questions.</a:t>
            </a:r>
          </a:p>
          <a:p xmlns:a="http://schemas.openxmlformats.org/drawingml/2006/main">
            <a:r>
              <a:t/>
            </a:r>
          </a:p>
          <a:p xmlns:a="http://schemas.openxmlformats.org/drawingml/2006/main">
            <a:r>
              <a:t>Source: https://huggingface.co/datasets/bowen-upenn/PersonaMem-v2</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is a publicly available dataset with a Creative Commons attribution license. We fix a particular release so that another person can reproduce the same input bytes. The dataset contains generated personas, histories, queries, and annotated conversation snippets. Downloading the actual files revealed a discrepancy: the training CSV has eighteen thousand five hundred forty-nine questions, validation has two thousand sixty-one, and the benchmark has five thousand. These observed counts differ from the rounded descriptions in the dataset card. We therefore use computed manifests and reports for the analysis, rather than treating the card as a substitute for inspecting the data. The generated nature of every example remains an important limitation.</a:t>
            </a:r>
          </a:p>
          <a:p xmlns:a="http://schemas.openxmlformats.org/drawingml/2006/main">
            <a:r>
              <a:t/>
            </a:r>
          </a:p>
          <a:p xmlns:a="http://schemas.openxmlformats.org/drawingml/2006/main">
            <a:r>
              <a:t>Source: https://huggingface.co/datasets/bowen-upenn/PersonaMem-v2</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most consequential quality finding is overlap between the released partitions. All seven hundred thirty-five validation personas also appear in training. In addition, persona seventy-eight appears in the development data and in the benchmark. Splitting individual questions would therefore expose the model to the same people in training and validation. The repair preserves the two hundred benchmark personas. Their development rows are excluded. We then pool the remaining development rows and divide the seven hundred ninety-nine personas with a fixed hash and an eighty-twenty rule. This yields six hundred thirty-nine training personas and one hundred sixty validation personas. Original source row identifiers are retained for traceability.</a:t>
            </a:r>
          </a:p>
          <a:p xmlns:a="http://schemas.openxmlformats.org/drawingml/2006/main">
            <a:r>
              <a:t/>
            </a:r>
          </a:p>
          <a:p xmlns:a="http://schemas.openxmlformats.org/drawingml/2006/main">
            <a:r>
              <a:t>Source: https://huggingface.co/datasets/bowen-upenn/PersonaMem-v2</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histories themselves also need inspection. Their initial system messages contain expanded synthetic profiles. Those profiles were generation context; indexing them would give the retrieval system privileged information. We exclude system messages while retaining original source indices. One assistant record contains only a role and no content. It is recorded as a missing message, rather than being filled with invented text. Another practical issue was Unicode handling between Python and R on Windows. We corrected the process locale and tested accented text, Chinese characters, emoji, quotes, and multiline fields. These checks matter because even an invisible text conversion can prevent exact evidence alignment or alter the source that appears in the demo.</a:t>
            </a:r>
          </a:p>
          <a:p xmlns:a="http://schemas.openxmlformats.org/drawingml/2006/main">
            <a:r>
              <a:t/>
            </a:r>
          </a:p>
          <a:p xmlns:a="http://schemas.openxmlformats.org/drawingml/2006/main">
            <a:r>
              <a:t>Source: https://huggingface.co/datasets/bowen-upenn/PersonaMem-v2</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annotation names a supporting conversation snippet. We locate that snippet in the original history by matching the complete role and content sequence. The match must be unique. We do not repair a missing snippet with fuzzy matching or let a language model invent the location. In this run, 22952 queries aligned out of 25584 cleaned queries. The remaining 2632 queries are listed in the alignment report. This exclusion changes the population on which retrieval metrics are computed, so the rate must accompany the result. A high score on the aligned subset cannot be described as performance on every original question. Inspecting the excluded cases is part of the data-quality analysis.</a:t>
            </a:r>
          </a:p>
          <a:p xmlns:a="http://schemas.openxmlformats.org/drawingml/2006/main">
            <a:r>
              <a:t/>
            </a:r>
          </a:p>
          <a:p xmlns:a="http://schemas.openxmlformats.org/drawingml/2006/main">
            <a:r>
              <a:t>Source: https://huggingface.co/datasets/bowen-upenn/PersonaMem-v2</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retrieval unit begins with a user turn and includes its following assistant response. This is a simple and reproducible segmentation rule. It does not use the gold annotation to decide where a unit starts. Long units are encoded through overlapping windows because the selected MiniLM encoder otherwise truncates long inputs. Similarity uses the strongest window match, while the returned evidence retains the complete original unit. Role labels remain visible. In particular, an assistant statement is not automatically evidence about the user's true preference. The memory identifier and original message indices make the unit traceable. Segmentation choices can influence results and should be revisited in a separately versioned experiment.</a:t>
            </a:r>
          </a:p>
          <a:p xmlns:a="http://schemas.openxmlformats.org/drawingml/2006/main">
            <a:r>
              <a:t/>
            </a:r>
          </a:p>
          <a:p xmlns:a="http://schemas.openxmlformats.org/drawingml/2006/main">
            <a:r>
              <a:t>Source: https://huggingface.co/datasets/bowen-upenn/PersonaMem-v2</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Exploratory analysis describes both the retained and excluded populations. The R notebook reports the number of queries by partition, history and memory sizes, evidence positions, query topics, and preference-update labels. Position deserves special care. The history provides message order, but it does not provide an event timestamp for every conversation. A date embedded in a generated filename is not evidence of when a user's preference was valid. We therefore use relative conversational position as a feature and describe it that way. Topic and update labels help stratify the evaluation, but they are not given to the ranker as oracle features. The notebook connects these descriptive checks to the later modeling decisions.</a:t>
            </a:r>
          </a:p>
          <a:p xmlns:a="http://schemas.openxmlformats.org/drawingml/2006/main">
            <a:r>
              <a:t/>
            </a:r>
          </a:p>
          <a:p xmlns:a="http://schemas.openxmlformats.org/drawingml/2006/main">
            <a:r>
              <a:t>Source: https://huggingface.co/datasets/bowen-upenn/PersonaMem-v2</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development keeps personas separated at every stage. Five-fold cross validation holds out whole personas, and each fold computes its normalization values using only its training rows. The final model uses training-only normalization as well. Validation selects the portable default before the benchmark is scored. The code records a frozen protocol containing data, model, and source hashes, which helps detect accidental changes after selection. Labels need a careful interpretation: a candidate without an annotated supporting snippet is unannotated, not proven useless. We therefore describe the supervised task as prediction of benchmark evidence labels. A separate human review is needed to assess alignment and possible missing support.</a:t>
            </a:r>
          </a:p>
          <a:p xmlns:a="http://schemas.openxmlformats.org/drawingml/2006/main">
            <a:r>
              <a:t/>
            </a:r>
          </a:p>
          <a:p xmlns:a="http://schemas.openxmlformats.org/drawingml/2006/main">
            <a:r>
              <a:t>Source: https://huggingface.co/datasets/bowen-upenn/PersonaMem-v2</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milestone delivers a reproducible preprocessing and exploratory analysis workflow. Its main finding is that the released files require stronger checks than their descriptive documentation suggests. The overlap repair and removal of profile-bearing system messages protect the experimental comparison. The alignment report makes excluded observations visible. A one-hundred-case audit queue has been designed for a human to check source alignment and possible omitted evidence. An automatically created queue does not count as a completed human review. The next stage compares the models under a fixed budget and presents the resulting evidence selections in an interactive explorer. The final research value comes from reproducible measurements, including a negative result if learned ranking does not improve the baseline.</a:t>
            </a:r>
          </a:p>
          <a:p xmlns:a="http://schemas.openxmlformats.org/drawingml/2006/main">
            <a:r>
              <a:t/>
            </a:r>
          </a:p>
          <a:p xmlns:a="http://schemas.openxmlformats.org/drawingml/2006/main">
            <a:r>
              <a:t>Source: https://huggingface.co/datasets/bowen-upenn/PersonaMem-v2</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a181dd0f1b4a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c7598fd50824cbd" /><Relationship Type="http://schemas.openxmlformats.org/officeDocument/2006/relationships/slideLayout" Target="/ppt/slideLayouts/slideLayout1.xml" Id="R02e9525ca90e499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e9525ca90e499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ae66da67a274e9a" /><Relationship Type="http://schemas.openxmlformats.org/officeDocument/2006/relationships/notesSlide" Target="/ppt/notesSlides/notesSlide1.xml" Id="R6b1dd41cb0d341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091f33aa8844d6c" /><Relationship Type="http://schemas.openxmlformats.org/officeDocument/2006/relationships/notesSlide" Target="/ppt/notesSlides/notesSlide2.xml" Id="R14b35d7f9420439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736f758f5fc4a22" /><Relationship Type="http://schemas.openxmlformats.org/officeDocument/2006/relationships/chart" Target="/ppt/slides/charts/chart1.xml" Id="Ra516bed4c054491a" /><Relationship Type="http://schemas.openxmlformats.org/officeDocument/2006/relationships/notesSlide" Target="/ppt/notesSlides/notesSlide3.xml" Id="R55905c1d3d124b2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79c93f601424f27" /><Relationship Type="http://schemas.openxmlformats.org/officeDocument/2006/relationships/notesSlide" Target="/ppt/notesSlides/notesSlide4.xml" Id="Rf59dbb7a121341f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72e74b2eb3b4e3c" /><Relationship Type="http://schemas.openxmlformats.org/officeDocument/2006/relationships/notesSlide" Target="/ppt/notesSlides/notesSlide5.xml" Id="R8c1afa4981894fe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2b0132dec104402" /><Relationship Type="http://schemas.openxmlformats.org/officeDocument/2006/relationships/chart" Target="/ppt/slides/charts/chart2.xml" Id="R20dc0a3805ae4dd5" /><Relationship Type="http://schemas.openxmlformats.org/officeDocument/2006/relationships/notesSlide" Target="/ppt/notesSlides/notesSlide6.xml" Id="R864c485f0251427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1d1a6f0adcc4011" /><Relationship Type="http://schemas.openxmlformats.org/officeDocument/2006/relationships/notesSlide" Target="/ppt/notesSlides/notesSlide7.xml" Id="Ra6af722661ae486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fc7dd257d814124" /><Relationship Type="http://schemas.openxmlformats.org/officeDocument/2006/relationships/chart" Target="/ppt/slides/charts/chart3.xml" Id="R1d56215323ba488f" /><Relationship Type="http://schemas.openxmlformats.org/officeDocument/2006/relationships/notesSlide" Target="/ppt/notesSlides/notesSlide8.xml" Id="R7054f4a8ea3248f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0a768b21bcb4a15" /><Relationship Type="http://schemas.openxmlformats.org/officeDocument/2006/relationships/notesSlide" Target="/ppt/notesSlides/notesSlide9.xml" Id="R624dd689062a439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094b225a30444a6" /><Relationship Type="http://schemas.openxmlformats.org/officeDocument/2006/relationships/notesSlide" Target="/ppt/notesSlides/notesSlide10.xml" Id="R4cc8c7e2b03f42e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Questions</c:v>
          </c:tx>
          <c:spPr>
            <a:solidFill xmlns:a="http://schemas.openxmlformats.org/drawingml/2006/main">
              <a:srgbClr val="207D83"/>
            </a:solidFill>
          </c:spPr>
          <c:cat>
            <c:strRef>
              <c:f>'Chart Data'!$A$2:$A$4</c:f>
              <c:strCache>
                <c:ptCount val="3"/>
                <c:pt idx="0">
                  <c:v>Train CSV</c:v>
                </c:pt>
                <c:pt idx="1">
                  <c:v>Validation CSV</c:v>
                </c:pt>
                <c:pt idx="2">
                  <c:v>Benchmark CSV</c:v>
                </c:pt>
              </c:strCache>
            </c:strRef>
          </c:cat>
          <c:val>
            <c:numRef>
              <c:f>'Chart Data'!$B$2:$B$4</c:f>
              <c:numCache>
                <c:formatCode>General</c:formatCode>
                <c:ptCount val="3"/>
                <c:pt idx="0">
                  <c:v>18549</c:v>
                </c:pt>
                <c:pt idx="1">
                  <c:v>2061</c:v>
                </c:pt>
                <c:pt idx="2">
                  <c:v>5000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Queries</c:v>
          </c:tx>
          <c:spPr>
            <a:solidFill xmlns:a="http://schemas.openxmlformats.org/drawingml/2006/main">
              <a:srgbClr val="207D83"/>
            </a:solidFill>
          </c:spPr>
          <c:cat>
            <c:strRef>
              <c:f>'Chart Data'!$A$2:$A$3</c:f>
              <c:strCache>
                <c:ptCount val="2"/>
                <c:pt idx="0">
                  <c:v>Aligned</c:v>
                </c:pt>
                <c:pt idx="1">
                  <c:v>Excluded</c:v>
                </c:pt>
              </c:strCache>
            </c:strRef>
          </c:cat>
          <c:val>
            <c:numRef>
              <c:f>'Chart Data'!$B$2:$B$3</c:f>
              <c:numCache>
                <c:formatCode>General</c:formatCode>
                <c:ptCount val="2"/>
                <c:pt idx="0">
                  <c:v>22952</c:v>
                </c:pt>
                <c:pt idx="1">
                  <c:v>2632</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Aligned questions</c:v>
          </c:tx>
          <c:spPr>
            <a:solidFill xmlns:a="http://schemas.openxmlformats.org/drawingml/2006/main">
              <a:srgbClr val="207D83"/>
            </a:solidFill>
          </c:spPr>
          <c:cat>
            <c:strRef>
              <c:f>'Chart Data'!$A$2:$A$4</c:f>
              <c:strCache>
                <c:ptCount val="3"/>
                <c:pt idx="0">
                  <c:v>Train</c:v>
                </c:pt>
                <c:pt idx="1">
                  <c:v>Validation</c:v>
                </c:pt>
                <c:pt idx="2">
                  <c:v>Benchmark</c:v>
                </c:pt>
              </c:strCache>
            </c:strRef>
          </c:cat>
          <c:val>
            <c:numRef>
              <c:f>'Chart Data'!$B$2:$B$4</c:f>
              <c:numCache>
                <c:formatCode>General</c:formatCode>
                <c:ptCount val="3"/>
                <c:pt idx="0">
                  <c:v>14822</c:v>
                </c:pt>
                <c:pt idx="1">
                  <c:v>3659</c:v>
                </c:pt>
                <c:pt idx="2">
                  <c:v>4471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692D2C6-5672-46FD-99FB-5042FCE32B3A}"/>
              </a:ext>
            </a:extLst>
          </p:cNvPr>
          <p:cNvSpPr>
            <a:spLocks xmlns:a="http://schemas.openxmlformats.org/drawingml/2006/main" noGrp="1"/>
          </p:cNvSpPr>
          <p:nvPr/>
        </p:nvSpPr>
        <p:spPr>
          <a:xfrm xmlns:a="http://schemas.openxmlformats.org/drawingml/2006/main">
            <a:off x="666750" y="419100"/>
            <a:ext cx="1085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142735"/>
                </a:solidFill>
                <a:latin typeface="Arial"/>
                <a:ea typeface="Arial"/>
                <a:cs typeface="Arial"/>
              </a:defRPr>
            </a:pPr>
            <a:r>
              <a:rPr sz="4650" b="1">
                <a:solidFill>
                  <a:srgbClr val="142735"/>
                </a:solidFill>
                <a:latin typeface="Arial"/>
                <a:ea typeface="Arial"/>
                <a:cs typeface="Arial"/>
              </a:rPr>
              <a:t>Persona Memory Ranker</a:t>
            </a:r>
          </a:p>
        </p:txBody>
      </p:sp>
      <p:sp>
        <p:nvSpPr>
          <p:cNvPr id="2" name="">
            <a:extLst xmlns:a="http://schemas.openxmlformats.org/drawingml/2006/main">
              <a:ext uri="{FF2B5EF4-FFF2-40B4-BE49-F238E27FC236}">
                <a16:creationId xmlns:a16="http://schemas.microsoft.com/office/drawing/2014/main" id="{5A4E7092-F422-4DA7-91CD-9C263A15AB31}"/>
              </a:ext>
            </a:extLst>
          </p:cNvPr>
          <p:cNvSpPr>
            <a:spLocks xmlns:a="http://schemas.openxmlformats.org/drawingml/2006/main" noGrp="1"/>
          </p:cNvSpPr>
          <p:nvPr/>
        </p:nvSpPr>
        <p:spPr>
          <a:xfrm xmlns:a="http://schemas.openxmlformats.org/drawingml/2006/main">
            <a:off x="704850" y="23812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Learning to retrieve relevant memories for AI personas</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DSCI310 · M1 · Wenyu Chiou</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Synthetic conversations · R models · Source evidence</a:t>
            </a:r>
          </a:p>
        </p:txBody>
      </p:sp>
      <p:sp>
        <p:nvSpPr>
          <p:cNvPr id="3" name="">
            <a:extLst xmlns:a="http://schemas.openxmlformats.org/drawingml/2006/main">
              <a:ext uri="{FF2B5EF4-FFF2-40B4-BE49-F238E27FC236}">
                <a16:creationId xmlns:a16="http://schemas.microsoft.com/office/drawing/2014/main" id="{2CC922D7-1316-492F-8828-8B018AA032FB}"/>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M1 · 1/10</a:t>
            </a:r>
          </a:p>
        </p:txBody>
      </p:sp>
    </p:spTree>
    <p:extLst>
      <p:ext uri="{BB962C8B-B14F-4D97-AF65-F5344CB8AC3E}">
        <p14:creationId xmlns:p14="http://schemas.microsoft.com/office/powerpoint/2010/main" val="2075191308"/>
      </p:ext>
    </p:extLst>
  </p:cSld>
</p:sld>
</file>

<file path=ppt/slides/slide2.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EC44C32-0972-4B3B-9969-335970E6569C}"/>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Research question</a:t>
            </a:r>
          </a:p>
        </p:txBody>
      </p:sp>
      <p:sp>
        <p:nvSpPr>
          <p:cNvPr id="2" name="">
            <a:extLst xmlns:a="http://schemas.openxmlformats.org/drawingml/2006/main">
              <a:ext uri="{FF2B5EF4-FFF2-40B4-BE49-F238E27FC236}">
                <a16:creationId xmlns:a16="http://schemas.microsoft.com/office/drawing/2014/main" id="{ECD5226F-A023-4FF9-964E-F61E44D695A2}"/>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Can classical ML retrieve better supporting evidence?</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Same candidate pool; same 2,000-token context budget</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Trace every selected memory to its original messages</a:t>
            </a:r>
          </a:p>
        </p:txBody>
      </p:sp>
      <p:sp>
        <p:nvSpPr>
          <p:cNvPr id="3" name="">
            <a:extLst xmlns:a="http://schemas.openxmlformats.org/drawingml/2006/main">
              <a:ext uri="{FF2B5EF4-FFF2-40B4-BE49-F238E27FC236}">
                <a16:creationId xmlns:a16="http://schemas.microsoft.com/office/drawing/2014/main" id="{8511F014-7D46-40D3-B0C4-276E7F59FAB0}"/>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M1 · 2/10</a:t>
            </a:r>
          </a:p>
        </p:txBody>
      </p:sp>
    </p:spTree>
    <p:extLst>
      <p:ext uri="{BB962C8B-B14F-4D97-AF65-F5344CB8AC3E}">
        <p14:creationId xmlns:p14="http://schemas.microsoft.com/office/powerpoint/2010/main" val="442393821"/>
      </p:ext>
    </p:extLst>
  </p:cSld>
</p:sld>
</file>

<file path=ppt/slides/slide3.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84526A0-9CEA-49E7-8D96-7B85B612C97B}"/>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Public dataset and observed counts</a:t>
            </a:r>
          </a:p>
        </p:txBody>
      </p:sp>
      <p:sp>
        <p:nvSpPr>
          <p:cNvPr id="2" name="">
            <a:extLst xmlns:a="http://schemas.openxmlformats.org/drawingml/2006/main">
              <a:ext uri="{FF2B5EF4-FFF2-40B4-BE49-F238E27FC236}">
                <a16:creationId xmlns:a16="http://schemas.microsoft.com/office/drawing/2014/main" id="{D13E4DC7-2A36-4F8B-9A34-5CCD2F816A19}"/>
              </a:ext>
            </a:extLst>
          </p:cNvPr>
          <p:cNvSpPr>
            <a:spLocks xmlns:a="http://schemas.openxmlformats.org/drawingml/2006/main" noGrp="1"/>
          </p:cNvSpPr>
          <p:nvPr/>
        </p:nvSpPr>
        <p:spPr>
          <a:xfrm xmlns:a="http://schemas.openxmlformats.org/drawingml/2006/main">
            <a:off x="704850" y="12573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PersonaMem-v2 · text-only 32k histories · CC BY 4.0</a:t>
            </a:r>
          </a:p>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Pinned release: ed956dea41521fc4499acbc63f966e0fd3c053ba</a:t>
            </a:r>
          </a:p>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Observed CSV counts differ from the dataset card</a:t>
            </a:r>
          </a:p>
        </p:txBody>
      </p:sp>
      <p:graphicFrame>
        <p:nvGraphicFramePr>
          <p:cNvPr id="7" name="Chart"/>
          <p:cNvGraphicFramePr/>
          <p:nvPr/>
        </p:nvGraphicFramePr>
        <p:xfrm>
          <a:off xmlns:a="http://schemas.openxmlformats.org/drawingml/2006/main" x="857250" y="2571750"/>
          <a:ext xmlns:a="http://schemas.openxmlformats.org/drawingml/2006/main" cx="10382250" cy="3619500"/>
        </p:xfrm>
        <a:graphic xmlns:a="http://schemas.openxmlformats.org/drawingml/2006/main">
          <a:graphicData uri="http://schemas.openxmlformats.org/drawingml/2006/chart">
            <c:chart xmlns:r="http://schemas.openxmlformats.org/officeDocument/2006/relationships" xmlns:c="http://schemas.openxmlformats.org/drawingml/2006/chart" r:id="Ra516bed4c054491a"/>
          </a:graphicData>
        </a:graphic>
      </p:graphicFrame>
      <p:sp>
        <p:nvSpPr>
          <p:cNvPr id="4" name="">
            <a:extLst xmlns:a="http://schemas.openxmlformats.org/drawingml/2006/main">
              <a:ext uri="{FF2B5EF4-FFF2-40B4-BE49-F238E27FC236}">
                <a16:creationId xmlns:a16="http://schemas.microsoft.com/office/drawing/2014/main" id="{0EC7B55F-5F9E-404F-A2CE-A9939E4CCDE7}"/>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M1 · 3/10</a:t>
            </a:r>
          </a:p>
        </p:txBody>
      </p:sp>
    </p:spTree>
    <p:extLst>
      <p:ext uri="{BB962C8B-B14F-4D97-AF65-F5344CB8AC3E}">
        <p14:creationId xmlns:p14="http://schemas.microsoft.com/office/powerpoint/2010/main" val="601555332"/>
      </p:ext>
    </p:extLst>
  </p:cSld>
</p:sld>
</file>

<file path=ppt/slides/slide4.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22E6711-A358-4791-9818-7C88A2DC7DEA}"/>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Persona overlap in the released splits</a:t>
            </a:r>
          </a:p>
        </p:txBody>
      </p:sp>
      <p:sp>
        <p:nvSpPr>
          <p:cNvPr id="2" name="">
            <a:extLst xmlns:a="http://schemas.openxmlformats.org/drawingml/2006/main">
              <a:ext uri="{FF2B5EF4-FFF2-40B4-BE49-F238E27FC236}">
                <a16:creationId xmlns:a16="http://schemas.microsoft.com/office/drawing/2014/main" id="{38E5AE2B-6268-4575-A0F4-0A9A4604E600}"/>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735 validation personas also occur in training</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Persona 78 overlaps development and benchmark</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Repair: preserve benchmark; regroup development by persona</a:t>
            </a:r>
          </a:p>
        </p:txBody>
      </p:sp>
      <p:sp>
        <p:nvSpPr>
          <p:cNvPr id="3" name="">
            <a:extLst xmlns:a="http://schemas.openxmlformats.org/drawingml/2006/main">
              <a:ext uri="{FF2B5EF4-FFF2-40B4-BE49-F238E27FC236}">
                <a16:creationId xmlns:a16="http://schemas.microsoft.com/office/drawing/2014/main" id="{301F5573-047A-492A-A7FF-BCBFC3324C4D}"/>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M1 · 4/10</a:t>
            </a:r>
          </a:p>
        </p:txBody>
      </p:sp>
    </p:spTree>
    <p:extLst>
      <p:ext uri="{BB962C8B-B14F-4D97-AF65-F5344CB8AC3E}">
        <p14:creationId xmlns:p14="http://schemas.microsoft.com/office/powerpoint/2010/main" val="62145140"/>
      </p:ext>
    </p:extLst>
  </p:cSld>
</p:sld>
</file>

<file path=ppt/slides/slide5.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91D4700-3E87-41BB-8016-FDB4C6DC48A2}"/>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Cleaning with preserved source text</a:t>
            </a:r>
          </a:p>
        </p:txBody>
      </p:sp>
      <p:sp>
        <p:nvSpPr>
          <p:cNvPr id="2" name="">
            <a:extLst xmlns:a="http://schemas.openxmlformats.org/drawingml/2006/main">
              <a:ext uri="{FF2B5EF4-FFF2-40B4-BE49-F238E27FC236}">
                <a16:creationId xmlns:a16="http://schemas.microsoft.com/office/drawing/2014/main" id="{F8CA0629-08B9-443B-8E8A-5E2D1EADC4F3}"/>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999 profile-bearing system messages excluded</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Original role, content and message indices retained</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One role-only assistant record recorded as missing</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Exact R/Python Unicode round trips tested</a:t>
            </a:r>
          </a:p>
        </p:txBody>
      </p:sp>
      <p:sp>
        <p:nvSpPr>
          <p:cNvPr id="3" name="">
            <a:extLst xmlns:a="http://schemas.openxmlformats.org/drawingml/2006/main">
              <a:ext uri="{FF2B5EF4-FFF2-40B4-BE49-F238E27FC236}">
                <a16:creationId xmlns:a16="http://schemas.microsoft.com/office/drawing/2014/main" id="{CA7EAE30-23AD-4B13-B212-37B652ED5AE0}"/>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M1 · 5/10</a:t>
            </a:r>
          </a:p>
        </p:txBody>
      </p:sp>
    </p:spTree>
    <p:extLst>
      <p:ext uri="{BB962C8B-B14F-4D97-AF65-F5344CB8AC3E}">
        <p14:creationId xmlns:p14="http://schemas.microsoft.com/office/powerpoint/2010/main" val="738290712"/>
      </p:ext>
    </p:extLst>
  </p:cSld>
</p:sld>
</file>

<file path=ppt/slides/slide6.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B5A76A6-1ACB-4997-911D-347F42D461F4}"/>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Evidence alignment and exclusions</a:t>
            </a:r>
          </a:p>
        </p:txBody>
      </p:sp>
      <p:sp>
        <p:nvSpPr>
          <p:cNvPr id="2" name="">
            <a:extLst xmlns:a="http://schemas.openxmlformats.org/drawingml/2006/main">
              <a:ext uri="{FF2B5EF4-FFF2-40B4-BE49-F238E27FC236}">
                <a16:creationId xmlns:a16="http://schemas.microsoft.com/office/drawing/2014/main" id="{5B3544C4-9ECF-4352-B016-937912C27FF5}"/>
              </a:ext>
            </a:extLst>
          </p:cNvPr>
          <p:cNvSpPr>
            <a:spLocks xmlns:a="http://schemas.openxmlformats.org/drawingml/2006/main" noGrp="1"/>
          </p:cNvSpPr>
          <p:nvPr/>
        </p:nvSpPr>
        <p:spPr>
          <a:xfrm xmlns:a="http://schemas.openxmlformats.org/drawingml/2006/main">
            <a:off x="704850" y="12573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22,952 aligned queries / 25,584 cleaned queries</a:t>
            </a:r>
          </a:p>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Gold role/content sequence must match exactly once</a:t>
            </a:r>
          </a:p>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Missing and ambiguous evidence receives an explicit reason</a:t>
            </a:r>
          </a:p>
        </p:txBody>
      </p:sp>
      <p:graphicFrame>
        <p:nvGraphicFramePr>
          <p:cNvPr id="7" name="Chart"/>
          <p:cNvGraphicFramePr/>
          <p:nvPr/>
        </p:nvGraphicFramePr>
        <p:xfrm>
          <a:off xmlns:a="http://schemas.openxmlformats.org/drawingml/2006/main" x="857250" y="2571750"/>
          <a:ext xmlns:a="http://schemas.openxmlformats.org/drawingml/2006/main" cx="10382250" cy="3619500"/>
        </p:xfrm>
        <a:graphic xmlns:a="http://schemas.openxmlformats.org/drawingml/2006/main">
          <a:graphicData uri="http://schemas.openxmlformats.org/drawingml/2006/chart">
            <c:chart xmlns:r="http://schemas.openxmlformats.org/officeDocument/2006/relationships" xmlns:c="http://schemas.openxmlformats.org/drawingml/2006/chart" r:id="R20dc0a3805ae4dd5"/>
          </a:graphicData>
        </a:graphic>
      </p:graphicFrame>
      <p:sp>
        <p:nvSpPr>
          <p:cNvPr id="4" name="">
            <a:extLst xmlns:a="http://schemas.openxmlformats.org/drawingml/2006/main">
              <a:ext uri="{FF2B5EF4-FFF2-40B4-BE49-F238E27FC236}">
                <a16:creationId xmlns:a16="http://schemas.microsoft.com/office/drawing/2014/main" id="{2E714095-ACF0-4353-A655-9BB4ECA5C805}"/>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M1 · 6/10</a:t>
            </a:r>
          </a:p>
        </p:txBody>
      </p:sp>
    </p:spTree>
    <p:extLst>
      <p:ext uri="{BB962C8B-B14F-4D97-AF65-F5344CB8AC3E}">
        <p14:creationId xmlns:p14="http://schemas.microsoft.com/office/powerpoint/2010/main" val="143466318"/>
      </p:ext>
    </p:extLst>
  </p:cSld>
</p:sld>
</file>

<file path=ppt/slides/slide7.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70CE8A6-4AF6-48BE-8CC7-B8CCFBDE5DFE}"/>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Memory units and source references</a:t>
            </a:r>
          </a:p>
        </p:txBody>
      </p:sp>
      <p:sp>
        <p:nvSpPr>
          <p:cNvPr id="2" name="">
            <a:extLst xmlns:a="http://schemas.openxmlformats.org/drawingml/2006/main">
              <a:ext uri="{FF2B5EF4-FFF2-40B4-BE49-F238E27FC236}">
                <a16:creationId xmlns:a16="http://schemas.microsoft.com/office/drawing/2014/main" id="{556BCF41-821C-417E-8881-17E4BA8FD213}"/>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One user turn plus its following assistant response</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Long turns use overlapping encoding windows</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Retrieved output retains the complete original unit</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Source roles remain visible</a:t>
            </a:r>
          </a:p>
        </p:txBody>
      </p:sp>
      <p:sp>
        <p:nvSpPr>
          <p:cNvPr id="3" name="">
            <a:extLst xmlns:a="http://schemas.openxmlformats.org/drawingml/2006/main">
              <a:ext uri="{FF2B5EF4-FFF2-40B4-BE49-F238E27FC236}">
                <a16:creationId xmlns:a16="http://schemas.microsoft.com/office/drawing/2014/main" id="{3BCA436A-542D-4660-853F-2BC890C12C49}"/>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M1 · 7/10</a:t>
            </a:r>
          </a:p>
        </p:txBody>
      </p:sp>
    </p:spTree>
    <p:extLst>
      <p:ext uri="{BB962C8B-B14F-4D97-AF65-F5344CB8AC3E}">
        <p14:creationId xmlns:p14="http://schemas.microsoft.com/office/powerpoint/2010/main" val="413843320"/>
      </p:ext>
    </p:extLst>
  </p:cSld>
</p:sld>
</file>

<file path=ppt/slides/slide8.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91485D1-4D31-4C7F-8A51-0E78BAA5502D}"/>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Exploratory analysis</a:t>
            </a:r>
          </a:p>
        </p:txBody>
      </p:sp>
      <p:sp>
        <p:nvSpPr>
          <p:cNvPr id="2" name="">
            <a:extLst xmlns:a="http://schemas.openxmlformats.org/drawingml/2006/main">
              <a:ext uri="{FF2B5EF4-FFF2-40B4-BE49-F238E27FC236}">
                <a16:creationId xmlns:a16="http://schemas.microsoft.com/office/drawing/2014/main" id="{DC4A4921-0F90-4910-9F44-7CEA984B3E38}"/>
              </a:ext>
            </a:extLst>
          </p:cNvPr>
          <p:cNvSpPr>
            <a:spLocks xmlns:a="http://schemas.openxmlformats.org/drawingml/2006/main" noGrp="1"/>
          </p:cNvSpPr>
          <p:nvPr/>
        </p:nvSpPr>
        <p:spPr>
          <a:xfrm xmlns:a="http://schemas.openxmlformats.org/drawingml/2006/main">
            <a:off x="704850" y="12573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Aligned train: 14,822 · validation: 3,659 · benchmark: 4,471</a:t>
            </a:r>
          </a:p>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Inspect lengths, positions, update metadata and exclusions</a:t>
            </a:r>
          </a:p>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Conversation order supplies position; filenames do not supply event time</a:t>
            </a:r>
          </a:p>
        </p:txBody>
      </p:sp>
      <p:graphicFrame>
        <p:nvGraphicFramePr>
          <p:cNvPr id="7" name="Chart"/>
          <p:cNvGraphicFramePr/>
          <p:nvPr/>
        </p:nvGraphicFramePr>
        <p:xfrm>
          <a:off xmlns:a="http://schemas.openxmlformats.org/drawingml/2006/main" x="857250" y="2571750"/>
          <a:ext xmlns:a="http://schemas.openxmlformats.org/drawingml/2006/main" cx="10382250" cy="3619500"/>
        </p:xfrm>
        <a:graphic xmlns:a="http://schemas.openxmlformats.org/drawingml/2006/main">
          <a:graphicData uri="http://schemas.openxmlformats.org/drawingml/2006/chart">
            <c:chart xmlns:r="http://schemas.openxmlformats.org/officeDocument/2006/relationships" xmlns:c="http://schemas.openxmlformats.org/drawingml/2006/chart" r:id="R1d56215323ba488f"/>
          </a:graphicData>
        </a:graphic>
      </p:graphicFrame>
      <p:sp>
        <p:nvSpPr>
          <p:cNvPr id="4" name="">
            <a:extLst xmlns:a="http://schemas.openxmlformats.org/drawingml/2006/main">
              <a:ext uri="{FF2B5EF4-FFF2-40B4-BE49-F238E27FC236}">
                <a16:creationId xmlns:a16="http://schemas.microsoft.com/office/drawing/2014/main" id="{BED5838E-63F4-470E-93D5-14A14728B981}"/>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M1 · 8/10</a:t>
            </a:r>
          </a:p>
        </p:txBody>
      </p:sp>
    </p:spTree>
    <p:extLst>
      <p:ext uri="{BB962C8B-B14F-4D97-AF65-F5344CB8AC3E}">
        <p14:creationId xmlns:p14="http://schemas.microsoft.com/office/powerpoint/2010/main" val="1123774373"/>
      </p:ext>
    </p:extLst>
  </p:cSld>
</p:sld>
</file>

<file path=ppt/slides/slide9.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AC8182E-60F9-4526-819A-C380A549B998}"/>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Grouped evaluation design</a:t>
            </a:r>
          </a:p>
        </p:txBody>
      </p:sp>
      <p:sp>
        <p:nvSpPr>
          <p:cNvPr id="2" name="">
            <a:extLst xmlns:a="http://schemas.openxmlformats.org/drawingml/2006/main">
              <a:ext uri="{FF2B5EF4-FFF2-40B4-BE49-F238E27FC236}">
                <a16:creationId xmlns:a16="http://schemas.microsoft.com/office/drawing/2014/main" id="{6BAF6082-7424-49DB-9215-0BE459F9458C}"/>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Five-fold cross-validation holds out whole personas</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Standardization uses training data within each fold</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Validation selects a portable method before benchmark scoring</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Unannotated evidence is not necessarily irrelevant</a:t>
            </a:r>
          </a:p>
        </p:txBody>
      </p:sp>
      <p:sp>
        <p:nvSpPr>
          <p:cNvPr id="3" name="">
            <a:extLst xmlns:a="http://schemas.openxmlformats.org/drawingml/2006/main">
              <a:ext uri="{FF2B5EF4-FFF2-40B4-BE49-F238E27FC236}">
                <a16:creationId xmlns:a16="http://schemas.microsoft.com/office/drawing/2014/main" id="{521AFDF9-ECF1-4050-A24D-0EBA758C7E10}"/>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M1 · 9/10</a:t>
            </a:r>
          </a:p>
        </p:txBody>
      </p:sp>
    </p:spTree>
    <p:extLst>
      <p:ext uri="{BB962C8B-B14F-4D97-AF65-F5344CB8AC3E}">
        <p14:creationId xmlns:p14="http://schemas.microsoft.com/office/powerpoint/2010/main" val="303526032"/>
      </p:ext>
    </p:extLst>
  </p:cSld>
</p:sld>
</file>

<file path=ppt/slides/slide10.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DD355D9-929A-403B-8AC8-0C855927D99F}"/>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M1 findings and next steps</a:t>
            </a:r>
          </a:p>
        </p:txBody>
      </p:sp>
      <p:sp>
        <p:nvSpPr>
          <p:cNvPr id="2" name="">
            <a:extLst xmlns:a="http://schemas.openxmlformats.org/drawingml/2006/main">
              <a:ext uri="{FF2B5EF4-FFF2-40B4-BE49-F238E27FC236}">
                <a16:creationId xmlns:a16="http://schemas.microsoft.com/office/drawing/2014/main" id="{F5C11023-5510-421F-9261-500B06E2ED01}"/>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Data cleaning exposed leakage risks before modeling</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Reproducible R notebook and source-indexed memories</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100-case human audit queue requires reviewer entries</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Next: model comparison, fixed-budget evaluation and demo</a:t>
            </a:r>
          </a:p>
        </p:txBody>
      </p:sp>
      <p:sp>
        <p:nvSpPr>
          <p:cNvPr id="3" name="">
            <a:extLst xmlns:a="http://schemas.openxmlformats.org/drawingml/2006/main">
              <a:ext uri="{FF2B5EF4-FFF2-40B4-BE49-F238E27FC236}">
                <a16:creationId xmlns:a16="http://schemas.microsoft.com/office/drawing/2014/main" id="{823F331E-B949-4886-B58D-EBED0AE6D9F0}"/>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M1 · 10/10</a:t>
            </a:r>
          </a:p>
        </p:txBody>
      </p:sp>
    </p:spTree>
    <p:extLst>
      <p:ext uri="{BB962C8B-B14F-4D97-AF65-F5344CB8AC3E}">
        <p14:creationId xmlns:p14="http://schemas.microsoft.com/office/powerpoint/2010/main" val="19931551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2026-09-11T03:52:03.7370000Z</dcterms:created>
  <dcterms:modified xsi:type="dcterms:W3CDTF">2026-09-11T03:52:03.7370000Z</dcterms:modified>
</coreProperties>
</file>